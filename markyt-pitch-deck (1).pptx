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2377440" cy="74066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28600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i="1" dirty="0">
                <a:solidFill>
                  <a:srgbClr val="F1D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it.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i="1" dirty="0">
                <a:solidFill>
                  <a:srgbClr val="F1D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scale.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4617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marketing partnership built on proof, not promises.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343A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FOR  —  [ CLIENT NAME ]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39535" y="6172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markytingagency@gmail.com   //   +91 70456 02440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has probably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burned you before.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are built for budgets bigger than yours — and they ask you to trust first, prove later.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960120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EFE8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37960" y="11247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commitments, upfront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44475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contracts and large retainers before you've seen a single result.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368296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EFE8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5328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5054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reporting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8529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 deck at month-end, instead of numbers you can check anytime.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776472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EFE8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941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9136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bigger budgets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4261104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designed for brands with money to spare — not yours.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5184648"/>
            <a:ext cx="5074920" cy="1298448"/>
          </a:xfrm>
          <a:prstGeom prst="roundRect">
            <a:avLst>
              <a:gd name="adj" fmla="val 5634"/>
            </a:avLst>
          </a:prstGeom>
          <a:solidFill>
            <a:srgbClr val="EFE8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53218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verify — until too late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56692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you know it isn't working, the budget is already gone.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D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don't trust us —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test us.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small test. Watch the real numbers. Then decide.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F232E"/>
          </a:solidFill>
          <a:ln w="12700">
            <a:solidFill>
              <a:srgbClr val="343A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617720"/>
            <a:ext cx="1554480" cy="731520"/>
          </a:xfrm>
          <a:prstGeom prst="roundRect">
            <a:avLst>
              <a:gd name="adj" fmla="val 50000"/>
            </a:avLst>
          </a:prstGeom>
          <a:solidFill>
            <a:srgbClr val="C98A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4617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4983480"/>
            <a:ext cx="6309360" cy="0"/>
          </a:xfrm>
          <a:prstGeom prst="line">
            <a:avLst/>
          </a:prstGeom>
          <a:noFill/>
          <a:ln w="25400">
            <a:solidFill>
              <a:srgbClr val="A6701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418320" y="4617720"/>
            <a:ext cx="1554480" cy="731520"/>
          </a:xfrm>
          <a:prstGeom prst="roundRect">
            <a:avLst>
              <a:gd name="adj" fmla="val 50000"/>
            </a:avLst>
          </a:prstGeom>
          <a:solidFill>
            <a:srgbClr val="F1DFB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18320" y="4617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₹5,000 starting test budget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once it's proven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8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Markyt works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A3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run ads for you — we build and run the entire journey your customers take, and prove it before you spend real money.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3337560" cy="3200400"/>
          </a:xfrm>
          <a:prstGeom prst="roundRect">
            <a:avLst>
              <a:gd name="adj" fmla="val 2571"/>
            </a:avLst>
          </a:prstGeom>
          <a:solidFill>
            <a:srgbClr val="1B1F2A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880360"/>
            <a:ext cx="640080" cy="640080"/>
          </a:xfrm>
          <a:prstGeom prst="ellipse">
            <a:avLst/>
          </a:prstGeom>
          <a:solidFill>
            <a:srgbClr val="F1DFB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D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2519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test budget + a flat, low starter fee. One month. No long contract.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78808" y="3886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16552" y="2560320"/>
            <a:ext cx="3337560" cy="3200400"/>
          </a:xfrm>
          <a:prstGeom prst="roundRect">
            <a:avLst>
              <a:gd name="adj" fmla="val 2571"/>
            </a:avLst>
          </a:prstGeom>
          <a:solidFill>
            <a:srgbClr val="1B1F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36592" y="2880360"/>
            <a:ext cx="640080" cy="640080"/>
          </a:xfrm>
          <a:prstGeom prst="ellipse">
            <a:avLst/>
          </a:prstGeom>
          <a:solidFill>
            <a:srgbClr val="F1DFB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D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42519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metrics as they happen — a live sheet, not a report after the fact.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886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10144" y="2560320"/>
            <a:ext cx="3337560" cy="3200400"/>
          </a:xfrm>
          <a:prstGeom prst="roundRect">
            <a:avLst>
              <a:gd name="adj" fmla="val 2571"/>
            </a:avLst>
          </a:prstGeom>
          <a:solidFill>
            <a:srgbClr val="1B1F2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30184" y="2880360"/>
            <a:ext cx="640080" cy="640080"/>
          </a:xfrm>
          <a:prstGeom prst="ellipse">
            <a:avLst/>
          </a:prstGeom>
          <a:solidFill>
            <a:srgbClr val="F1DFB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0184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D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425196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works, spend and fees grow together. If not, you've lost very little.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your business, stage by stage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971446" cy="2331720"/>
          </a:xfrm>
          <a:prstGeom prst="roundRect">
            <a:avLst>
              <a:gd name="adj" fmla="val 3247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1697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04872"/>
            <a:ext cx="1697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SERP &amp; social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88920"/>
            <a:ext cx="16971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gets discovered wherever customers are already looking.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803550" y="28117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58998" y="1874520"/>
            <a:ext cx="1971446" cy="2331720"/>
          </a:xfrm>
          <a:prstGeom prst="roundRect">
            <a:avLst>
              <a:gd name="adj" fmla="val 3247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96158" y="2057400"/>
            <a:ext cx="1697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096158" y="2404872"/>
            <a:ext cx="1697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Site, call or WhatsApp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96158" y="2788920"/>
            <a:ext cx="16971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land somewhere specific — whatever removes the most friction.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939589" y="28117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5037" y="1874520"/>
            <a:ext cx="1971446" cy="2331720"/>
          </a:xfrm>
          <a:prstGeom prst="roundRect">
            <a:avLst>
              <a:gd name="adj" fmla="val 3247"/>
            </a:avLst>
          </a:prstGeom>
          <a:solidFill>
            <a:srgbClr val="F1DFB9"/>
          </a:solidFill>
          <a:ln w="12700">
            <a:solidFill>
              <a:srgbClr val="A67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2197" y="2057400"/>
            <a:ext cx="1697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232197" y="2404872"/>
            <a:ext cx="1697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Offer + re-entries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232197" y="2788920"/>
            <a:ext cx="16971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didn't convert gets a sharper offer. No one is a dead end.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75627" y="28117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31075" y="1874520"/>
            <a:ext cx="1971446" cy="2331720"/>
          </a:xfrm>
          <a:prstGeom prst="roundRect">
            <a:avLst>
              <a:gd name="adj" fmla="val 3247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8235" y="2057400"/>
            <a:ext cx="1697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368235" y="2404872"/>
            <a:ext cx="1697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acquired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368235" y="2788920"/>
            <a:ext cx="16971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paying customer — and their behaviour becomes data.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211666" y="2811780"/>
            <a:ext cx="146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367114" y="1874520"/>
            <a:ext cx="1971446" cy="2331720"/>
          </a:xfrm>
          <a:prstGeom prst="roundRect">
            <a:avLst>
              <a:gd name="adj" fmla="val 3247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4274" y="2057400"/>
            <a:ext cx="1697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9504274" y="2404872"/>
            <a:ext cx="1697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Sharper discovery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504274" y="2788920"/>
            <a:ext cx="16971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data sharpens who gets targeted in the next cycle.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526280"/>
            <a:ext cx="10515600" cy="0"/>
          </a:xfrm>
          <a:prstGeom prst="line">
            <a:avLst/>
          </a:prstGeom>
          <a:noFill/>
          <a:ln w="12700">
            <a:solidFill>
              <a:srgbClr val="C9BE9E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822960" y="4636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 Refine feeds back into Discovery — the loop gets sharper each cycle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E5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team. The channels that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move the needle.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5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ADVERTISING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2862072"/>
            <a:ext cx="365760" cy="365760"/>
          </a:xfrm>
          <a:prstGeom prst="ellipse">
            <a:avLst/>
          </a:prstGeom>
          <a:solidFill>
            <a:srgbClr val="7A8B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192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26080" y="269748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090672" y="2862072"/>
            <a:ext cx="365760" cy="365760"/>
          </a:xfrm>
          <a:prstGeom prst="ellipse">
            <a:avLst/>
          </a:prstGeom>
          <a:solidFill>
            <a:srgbClr val="7A8B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9067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33192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269748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193792" y="2862072"/>
            <a:ext cx="365760" cy="365760"/>
          </a:xfrm>
          <a:prstGeom prst="ellipse">
            <a:avLst/>
          </a:prstGeom>
          <a:solidFill>
            <a:srgbClr val="7A8B6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9379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3192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0" y="269748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96912" y="2862072"/>
            <a:ext cx="365760" cy="365760"/>
          </a:xfrm>
          <a:prstGeom prst="ellipse">
            <a:avLst/>
          </a:prstGeom>
          <a:solidFill>
            <a:srgbClr val="7A8B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9691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3192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35440" y="269748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400032" y="2862072"/>
            <a:ext cx="365760" cy="365760"/>
          </a:xfrm>
          <a:prstGeom prst="ellipse">
            <a:avLst/>
          </a:prstGeom>
          <a:solidFill>
            <a:srgbClr val="7A8B6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0003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331927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5D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 ADS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389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Production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editing — built to convert on each platform.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89120" y="4389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partnerships matched to your audience, not follower count.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55280" y="4389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83880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Marketing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983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— you pay for results actually driven.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5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add a channel unless it earns its place in your funnel.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message to live campaign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your business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391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detailed questionnaire on your needs.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691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tailored strategy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0391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answers, not a template.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79192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679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gets made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0266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Guided, or fully handled by our in-house editor.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79192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679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0266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approve before anything goes live.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666744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66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goes live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142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starts here — not before.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666744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666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Live-tracked daily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401421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Sheet you can check anytime.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54296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direct support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0017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or call, answered ASAP.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654296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9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month two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500176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real results, not projections.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DF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not waiting a month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out if it's working.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6F1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26700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6F1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90672" y="26700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090672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click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46888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6F1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93792" y="26700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a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246888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6F1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96912" y="26700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rupee spent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2468880"/>
            <a:ext cx="1993392" cy="1508760"/>
          </a:xfrm>
          <a:prstGeom prst="roundRect">
            <a:avLst>
              <a:gd name="adj" fmla="val 4848"/>
            </a:avLst>
          </a:prstGeom>
          <a:solidFill>
            <a:srgbClr val="F6F1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00032" y="26700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400032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5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3434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B1F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300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D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lives in a live Google Sheet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901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and refined daily — not a static report you get once a month.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businesses who need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to actually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medium businesses — not enterprise brands with agency-scale retainers already in place.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INDUSTRIES WE WORK WELL WITH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Therapists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3840480"/>
            <a:ext cx="1824228" cy="457200"/>
          </a:xfrm>
          <a:prstGeom prst="roundRect">
            <a:avLst>
              <a:gd name="adj" fmla="val 50000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04288" y="384048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 agencies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5676" y="3840480"/>
            <a:ext cx="768096" cy="457200"/>
          </a:xfrm>
          <a:prstGeom prst="roundRect">
            <a:avLst>
              <a:gd name="adj" fmla="val 50000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65676" y="384048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FMCG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B2B construction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44348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D2C &amp; B2C brands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3264408" cy="457200"/>
          </a:xfrm>
          <a:prstGeom prst="roundRect">
            <a:avLst>
              <a:gd name="adj" fmla="val 50000"/>
            </a:avLst>
          </a:prstGeom>
          <a:solidFill>
            <a:srgbClr val="EFE8D8"/>
          </a:solidFill>
          <a:ln w="12700">
            <a:solidFill>
              <a:srgbClr val="DCD3B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2920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repair &amp; local services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960120"/>
            <a:ext cx="4846320" cy="5029200"/>
          </a:xfrm>
          <a:prstGeom prst="roundRect">
            <a:avLst>
              <a:gd name="adj" fmla="val 1887"/>
            </a:avLst>
          </a:prstGeom>
          <a:solidFill>
            <a:srgbClr val="E3E9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1430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7A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28600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3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Markyt for the business that needs every rupee to count — not the brand that has some to spare.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D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MARKYT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starting point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 AGENCY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1DF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2024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28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retainer before any proof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C98A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828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test before you commit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679192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2024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6791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679192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C98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6791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sheet, refined daily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529584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2024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5295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contract to exit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529584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C98A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52958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contract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379976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2024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43799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bigger budgets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379976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C98A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3799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SMBs specifically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5230368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2024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52303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1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strategy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5230368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C98A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52303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tailored to your business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7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should create value — not fluff.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i="1" dirty="0">
                <a:solidFill>
                  <a:srgbClr val="3A4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Marketing's job is to create real value — for the brand, for the advertiser, and for the person actually watching. Somewhere along the way, a lot of it became fluff: polished reels with nothing behind them, claims dressed up to look like proof. Audiences have gotten better at spotting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2743200" cy="0"/>
          </a:xfrm>
          <a:prstGeom prst="line">
            <a:avLst/>
          </a:prstGeom>
          <a:noFill/>
          <a:ln w="25400">
            <a:solidFill>
              <a:srgbClr val="C98A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B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 team of independent marketing professionals, 5+ years of experience each, who came together on one belief: an honest, well-made offer still cuts through more noise than a clever one. No overhead, no big-retainer minimums — just marketing built to hold up when someone looks closely.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869680" y="1737360"/>
            <a:ext cx="2514600" cy="1874520"/>
          </a:xfrm>
          <a:prstGeom prst="roundRect">
            <a:avLst>
              <a:gd name="adj" fmla="val 4390"/>
            </a:avLst>
          </a:prstGeom>
          <a:solidFill>
            <a:srgbClr val="EFE8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0" y="1920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67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experience,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team member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869680" y="3794760"/>
            <a:ext cx="2514600" cy="1874520"/>
          </a:xfrm>
          <a:prstGeom prst="roundRect">
            <a:avLst>
              <a:gd name="adj" fmla="val 4390"/>
            </a:avLst>
          </a:prstGeom>
          <a:solidFill>
            <a:srgbClr val="E3E9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0" y="39776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E5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4937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overhead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retainer minimums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44849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A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Markyt  //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173736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737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₹5,000 test.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2697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case, you're out ₹5,000 and a month.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case, you've found what actually works — and a system that keeps getting sharper as it runs.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4114800"/>
            <a:ext cx="4206240" cy="1508760"/>
          </a:xfrm>
          <a:prstGeom prst="roundRect">
            <a:avLst>
              <a:gd name="adj" fmla="val 5455"/>
            </a:avLst>
          </a:prstGeom>
          <a:solidFill>
            <a:srgbClr val="C98A2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9728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3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4590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+91 70456 02440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start the conversation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57800" y="4114800"/>
            <a:ext cx="4206240" cy="1508760"/>
          </a:xfrm>
          <a:prstGeom prst="roundRect">
            <a:avLst>
              <a:gd name="adj" fmla="val 5455"/>
            </a:avLst>
          </a:prstGeom>
          <a:solidFill>
            <a:srgbClr val="20242E"/>
          </a:solidFill>
          <a:ln w="12700">
            <a:solidFill>
              <a:srgbClr val="343A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F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4572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markytingagency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@gmail.com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 contracts. No case studies needed — just run the test.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2026-09-05T22:44:37Z</dcterms:created>
  <dcterms:modified xsi:type="dcterms:W3CDTF">2026-09-05T22:44:37Z</dcterms:modified>
</cp:coreProperties>
</file>